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0728655" cy="5577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005840"/>
            <a:ext cx="29260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air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051560"/>
            <a:ext cx="2743200" cy="11519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214884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SRI SAIRAM COLLEGE OF ENGINEERING · BENGALURU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1460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Centralized Seminar Hall &amp;</a:t>
            </a:r>
            <a:br/>
            <a:r>
              <a:t>Campus Facility Reservation System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An Enterprise-grade, Concurrency-safe Web Platform with Multi-tier Governance, Dynamic Privacy &amp; Verifiable PDF Gate Passes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4663440"/>
            <a:ext cx="978408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84632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Presented By: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[Your Name / Team Members &amp; Roll Numbers]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84632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Project Mentor / Guide: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[Project Guide Name &amp; Designation]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SLIDE 2 · MOTIVATION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Problem Statement vs. Proposed Solution</a:t>
            </a:r>
          </a:p>
        </p:txBody>
      </p:sp>
      <p:pic>
        <p:nvPicPr>
          <p:cNvPr id="6" name="Picture 5" descr="sair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633161" cy="685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21208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❌ Legacy System: Pain Points &amp;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0F172A"/>
                </a:solidFill>
              </a:defRPr>
            </a:pPr>
            <a:r>
              <a:t>• Manual Physical Logbooks: </a:t>
            </a:r>
            <a:r>
              <a:rPr b="0" sz="1000">
                <a:solidFill>
                  <a:srgbClr val="64748B"/>
                </a:solidFill>
              </a:rPr>
              <a:t>Prone to lost paperwork, illegible entries, unrecorded cancellations, and zero digital accountability.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Double-Booking Race Conditions: </a:t>
            </a:r>
            <a:r>
              <a:rPr b="0" sz="1000">
                <a:solidFill>
                  <a:srgbClr val="64748B"/>
                </a:solidFill>
              </a:rPr>
              <a:t>Simultaneous offline/manual requests by two departments cause embarrassing event clashes on the same date.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Lack of Real-Time Visibility: </a:t>
            </a:r>
            <a:r>
              <a:rPr b="0" sz="1000">
                <a:solidFill>
                  <a:srgbClr val="64748B"/>
                </a:solidFill>
              </a:rPr>
              <a:t>Faculty has no way to know if a hall is under acoustic maintenance, NAAC inspection, or semester exams.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Bureaucratic Delays &amp; Missing Passes: </a:t>
            </a:r>
            <a:r>
              <a:rPr b="0" sz="1000">
                <a:solidFill>
                  <a:srgbClr val="64748B"/>
                </a:solidFill>
              </a:rPr>
              <a:t>Coordinators spend days chasing signatures for physical passes with no verifiable gate entry slip.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212080" cy="5029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41732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✅ Proposed Platform: Core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0F172A"/>
                </a:solidFill>
              </a:defRPr>
            </a:pPr>
            <a:r>
              <a:t>✔ Centralized Digital Portal: </a:t>
            </a:r>
            <a:r>
              <a:rPr b="0" sz="1000">
                <a:solidFill>
                  <a:srgbClr val="64748B"/>
                </a:solidFill>
              </a:rPr>
              <a:t>Single web gateway for Leo Muthu Seminar Auditorium and Sir M. Visvesvaraya AV Hall with full facility details.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Live Interactive Desk Calendar: </a:t>
            </a:r>
            <a:r>
              <a:rPr b="0" sz="1000">
                <a:solidFill>
                  <a:srgbClr val="64748B"/>
                </a:solidFill>
              </a:rPr>
              <a:t>Real-time Month, Week, and List views with color indicators for Booked, Available, Maintenance, and Holidays.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Concurrency-Safe Conflict Engine: </a:t>
            </a:r>
            <a:r>
              <a:rPr b="0" sz="1000">
                <a:solidFill>
                  <a:srgbClr val="64748B"/>
                </a:solidFill>
              </a:rPr>
              <a:t>Atomic database transactions (prisma.$transaction) providing absolute 100% zero double-booking guarantee.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Automated Verifiable Gate Passes: </a:t>
            </a:r>
            <a:r>
              <a:rPr b="0" sz="1000">
                <a:solidFill>
                  <a:srgbClr val="64748B"/>
                </a:solidFill>
              </a:rPr>
              <a:t>Instant vector PDF vouchers with offline scannable QR verification codes, college logo, and official seal.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SLIDE 3 · ENGINEERING &amp;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System Architecture &amp; Reservation Pipeline</a:t>
            </a:r>
          </a:p>
        </p:txBody>
      </p:sp>
      <p:pic>
        <p:nvPicPr>
          <p:cNvPr id="6" name="Picture 5" descr="sair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633161" cy="685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4290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99032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Frontend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3063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React 18 + TypeScript • Vite • Tailwind CSS v4 • Lucide Icons • Recharts Analytics • jsPDF Vector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342900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399032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Backend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3063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Node.js &amp; Express (TypeScript) • Prisma ORM • SQLite / PostgreSQL Ready • Nodemailer SMTP Mailer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429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3429000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399032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Security &amp; Infra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828800"/>
            <a:ext cx="3063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Cryptographic JWT (7-Day Expiry) • Salted bcryptjs Hashes • MIME-checked Multer Uploads • 3 Dynamic Privacy Modes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46120"/>
            <a:ext cx="10728655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29184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CORE RESERVATION PIPELINE (STEP-BY-STEP PROCESS FLOW)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40480"/>
            <a:ext cx="160020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3977639"/>
            <a:ext cx="132588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99592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34840"/>
            <a:ext cx="1417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</a:defRPr>
            </a:pPr>
            <a:r>
              <a:t>Faculty Login</a:t>
            </a:r>
          </a:p>
          <a:p>
            <a:pPr algn="ctr"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Authenticated portal access via verified account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0" y="3840480"/>
            <a:ext cx="160020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697480" y="3977639"/>
            <a:ext cx="132588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80" y="399592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4434840"/>
            <a:ext cx="1417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</a:defRPr>
            </a:pPr>
            <a:r>
              <a:t>Select Venue</a:t>
            </a:r>
          </a:p>
          <a:p>
            <a:pPr algn="ctr"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Choose hall, date, time slot &amp; upload HOD letter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3840480"/>
            <a:ext cx="160020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26280" y="3977639"/>
            <a:ext cx="132588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399592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434840"/>
            <a:ext cx="1417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</a:defRPr>
            </a:pPr>
            <a:r>
              <a:t>Conflict Check</a:t>
            </a:r>
          </a:p>
          <a:p>
            <a:pPr algn="ctr"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Atomic check in prisma.$transaction prevents clash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840480"/>
            <a:ext cx="160020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55080" y="3977639"/>
            <a:ext cx="132588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99592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434840"/>
            <a:ext cx="1417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</a:defRPr>
            </a:pPr>
            <a:r>
              <a:t>PENDING Queue</a:t>
            </a:r>
          </a:p>
          <a:p>
            <a:pPr algn="ctr"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Enters admin review queue &amp; email notification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3840480"/>
            <a:ext cx="160020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83880" y="3977639"/>
            <a:ext cx="1325880" cy="3200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80" y="399592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Step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434840"/>
            <a:ext cx="1417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</a:defRPr>
            </a:pPr>
            <a:r>
              <a:t>Admin Decision</a:t>
            </a:r>
          </a:p>
          <a:p>
            <a:pPr algn="ctr"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Approve with remarks or Cancel with notice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75520" y="3840480"/>
            <a:ext cx="160020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012680" y="3977639"/>
            <a:ext cx="132588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12680" y="399592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Step 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4434840"/>
            <a:ext cx="1417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</a:defRPr>
            </a:pPr>
            <a:r>
              <a:t>PDF Gate Pass</a:t>
            </a:r>
          </a:p>
          <a:p>
            <a:pPr algn="ctr"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Instant vector voucher with scannable QR pass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SLIDE 4 · TECHNICAL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Key Technical Challenges &amp; Engineering Solutions</a:t>
            </a:r>
          </a:p>
        </p:txBody>
      </p:sp>
      <p:pic>
        <p:nvPicPr>
          <p:cNvPr id="6" name="Picture 5" descr="sair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633161" cy="685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10728655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26464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⚙️ Double-Booking Concurrency Bug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C2626"/>
                </a:solidFill>
              </a:defRPr>
            </a:pPr>
            <a:r>
              <a:t>• Challenge: When two faculty members submit simultaneous booking requests for the same auditorium at the exact same millisecond.</a:t>
            </a:r>
          </a:p>
          <a:p>
            <a:pPr>
              <a:defRPr sz="1000">
                <a:solidFill>
                  <a:srgbClr val="166534"/>
                </a:solidFill>
              </a:defRPr>
            </a:pPr>
            <a:r>
              <a:t>• Solution: Prisma Interactive Transactions (prisma.$transaction) wrapping slot verification and record insertion inside an atomic database lock. Guarantees 100% clash-free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10728655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60904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⚙️ Timezone Offset Drift (Asia/Kolkata IST)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C2626"/>
                </a:solidFill>
              </a:defRPr>
            </a:pPr>
            <a:r>
              <a:t>• Challenge: Standard JavaScript Date.toISOString() converts local IST midnight into previous day's UTC date, shifting calendar records by -1 day.</a:t>
            </a:r>
          </a:p>
          <a:p>
            <a:pPr>
              <a:defRPr sz="1000">
                <a:solidFill>
                  <a:srgbClr val="166534"/>
                </a:solidFill>
              </a:defRPr>
            </a:pPr>
            <a:r>
              <a:t>• Solution: Engineered a custom IST date normalizer extracting year, month, and day in strict local Asia/Kolkata timezone, guaranteeing complete frontend &amp; backend synchronization.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728655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95344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⚙️ Campus Privacy &amp; Confidentiality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C2626"/>
                </a:solidFill>
              </a:defRPr>
            </a:pPr>
            <a:r>
              <a:t>• Challenge: Confidential meetings, university valuations, or disciplinary drives must not expose event titles and coordinator phones on the public calendar.</a:t>
            </a:r>
          </a:p>
          <a:p>
            <a:pPr>
              <a:defRPr sz="1000">
                <a:solidFill>
                  <a:srgbClr val="166534"/>
                </a:solidFill>
              </a:defRPr>
            </a:pPr>
            <a:r>
              <a:t>• Solution: Built 3 Dynamic Privacy Modes (EVENT_TITLE, DEPARTMENT_EVENT, RESERVED_SLOT) that auto-mask sensitive titles on public view while preserving full detail for admins.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74920"/>
            <a:ext cx="10728655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29784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⚙️ Institutional Role Security &amp; Gating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406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C2626"/>
                </a:solidFill>
              </a:defRPr>
            </a:pPr>
            <a:r>
              <a:t>• Challenge: Preventing arbitrary public self-registered users from booking auditoriums without verified institutional credentials.</a:t>
            </a:r>
          </a:p>
          <a:p>
            <a:pPr>
              <a:defRPr sz="1000">
                <a:solidFill>
                  <a:srgbClr val="166534"/>
                </a:solidFill>
              </a:defRPr>
            </a:pPr>
            <a:r>
              <a:t>• Solution: Strict account status gating: Self-registered users default to INACTIVE until estate admin approval. All booking APIs enforce strict 403 Forbidden checks for non-faculty roles.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SLIDE 5 · SYSTEM IMPACT &amp;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Live Capabilities, Future Scope &amp; Conclusion</a:t>
            </a:r>
          </a:p>
        </p:txBody>
      </p:sp>
      <p:pic>
        <p:nvPicPr>
          <p:cNvPr id="6" name="Picture 5" descr="sair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633161" cy="685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521208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21208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990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🎯 Live System Capabilities (Production Ready)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00">
                <a:solidFill>
                  <a:srgbClr val="1E293B"/>
                </a:solidFill>
              </a:defRPr>
            </a:pPr>
            <a:r>
              <a:t>✔  Interactive Desk Calendar: Month, Week &amp; List views with instant slot availability.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✔  Role-Based Dashboards: Custom views for Public, Faculty, and Admin.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✔  1-Click Approvals &amp; Notices: Estate admin remarks attached directly to passes.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✔  High-Resolution PDF Gate Pass: Vector pass with college logo, seal &amp; QR code.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✔  Blackout &amp; Maintenance Desk: Date blocking for semester exams &amp; NAAC audits.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21208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990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🚀 Future Scope &amp; Technology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00">
                <a:solidFill>
                  <a:srgbClr val="1E293B"/>
                </a:solidFill>
              </a:defRPr>
            </a:pPr>
            <a:r>
              <a:t>➔  Mobile QR Gate Scanner: Guard app for instant attendee verification at the entrance.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➔  WhatsApp / SMS Alerts: Twilio / Gupshup webhook alerts on approval/cancellation.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➔  Multi-Tier Approval Chain: Hierarchical flow (HOD ➔ Dean ➔ Principal).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➔  Technician Pre-Flight Checklist: Microphone, projector, and acoustics testing log.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➔  Real-Time WebSockets: Live calendar sync across devices using Socket.io.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40680"/>
            <a:ext cx="10728655" cy="1051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5321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CONCLUSION: A TRANSFORMATIVE STEP TOWARDS A PAPERLESS, MODERN CAMPUS</a:t>
            </a:r>
          </a:p>
          <a:p>
            <a:pPr algn="ctr"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Successfully transformed Sri Sairam College of Engineering's venue management from error-prone registers to an automated, concurrency-safe digital platform. Thank You! We are now open for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